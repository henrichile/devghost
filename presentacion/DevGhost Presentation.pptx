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6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675" y="1981200"/>
            <a:ext cx="21526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4838700"/>
            <a:ext cx="1714500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4838700"/>
            <a:ext cx="2205037" cy="95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787" y="4838700"/>
            <a:ext cx="1985962" cy="952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324600"/>
            <a:ext cx="11029950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60795" y="2457450"/>
            <a:ext cx="3270408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F8FAFC"/>
                </a:solidFill>
                <a:latin typeface="Poppins ExtraBold"/>
              </a:rPr>
              <a:t>DevGhost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5578" y="3476625"/>
            <a:ext cx="674084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CBD5E1"/>
                </a:solidFill>
                <a:latin typeface="Poppins Medium"/>
              </a:rPr>
              <a:t>Agente Autónomo de Análisis de Arquitectura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4125" y="3981450"/>
            <a:ext cx="714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Entiende cualquier codebase en segundos con 5 sub-agentes de IA trabajando en paralelo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6448425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JetBrains Mono"/>
              </a:rPr>
              <a:t>dev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.</a:t>
            </a:r>
            <a:r>
              <a:rPr b="1" sz="1050" i="0" u="none">
                <a:solidFill>
                  <a:srgbClr val="F8FAFC"/>
                </a:solidFill>
                <a:latin typeface="JetBrains Mono"/>
              </a:rPr>
              <a:t>ghost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0" y="64579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01 / 09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3100" y="1066800"/>
            <a:ext cx="68580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76575" y="5000625"/>
            <a:ext cx="10858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0" sz="3000" i="0" u="none">
                <a:solidFill>
                  <a:srgbClr val="38BDF8"/>
                </a:solidFill>
                <a:latin typeface="JetBrains Mono Extra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6575" y="5476875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AGENTES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2075" y="5000625"/>
            <a:ext cx="157638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0" sz="3000" i="0" u="none">
                <a:solidFill>
                  <a:srgbClr val="A78BFA"/>
                </a:solidFill>
                <a:latin typeface="JetBrains Mono ExtraBold"/>
              </a:rPr>
              <a:t>740+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2075" y="5476875"/>
            <a:ext cx="15763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TESTS AUTOMATIZADOS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112" y="5000625"/>
            <a:ext cx="13573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0" sz="3000" i="0" u="none">
                <a:solidFill>
                  <a:srgbClr val="34D399"/>
                </a:solidFill>
                <a:latin typeface="JetBrains Mono ExtraBold"/>
              </a:rPr>
              <a:t>~2min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8112" y="5476875"/>
            <a:ext cx="135731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ANÁLISIS COMPLETO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712493"/>
            <a:ext cx="11029950" cy="6905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324600"/>
            <a:ext cx="110299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264568"/>
            <a:ext cx="1158144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E2E8F0"/>
                </a:solidFill>
                <a:latin typeface="Poppins SemiBold"/>
              </a:rPr>
              <a:t>¿Cuántas horas has perdido tratando de entender código ajeno?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6448425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JetBrains Mono"/>
              </a:rPr>
              <a:t>dev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.</a:t>
            </a:r>
            <a:r>
              <a:rPr b="1" sz="1050" i="0" u="none">
                <a:solidFill>
                  <a:srgbClr val="F8FAFC"/>
                </a:solidFill>
                <a:latin typeface="JetBrains Mono"/>
              </a:rPr>
              <a:t>ghost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0" y="64579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02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769393"/>
            <a:ext cx="10763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Un developer nuevo tarda </a:t>
            </a:r>
            <a:r>
              <a:rPr b="1" sz="1200" i="0" u="none">
                <a:solidFill>
                  <a:srgbClr val="CBD5E1"/>
                </a:solidFill>
                <a:latin typeface="Inter"/>
              </a:rPr>
              <a:t>3 a 6 meses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en ser totalmente productivo en un proyecto existente.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131343"/>
            <a:ext cx="10763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Las auditorías de código toman semanas de revisión manual minuciosa.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93293"/>
            <a:ext cx="10763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La documentación técnica siempre está desactualizada, incompleta o simplemente no existe.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55243"/>
            <a:ext cx="10763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Entender la arquitectura requiere leer miles de líneas de código sin contexto global.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17193"/>
            <a:ext cx="10763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Los casos de uso e intenciones originales del sistema se pierden con la rotación del equipo.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950618"/>
            <a:ext cx="10525125" cy="214312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FCA5A5"/>
                </a:solidFill>
                <a:latin typeface="Inter SemiBold"/>
              </a:rPr>
              <a:t>Resultado: Tiempo perdido, decisiones sin contexto, bugs por desconocimiento estructural y un proceso de onboarding eterno.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2769393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3131343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3493293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3855243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217193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979193"/>
            <a:ext cx="14287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😰</a:t>
            </a:r>
            <a:r>
              <a:rPr b="1" sz="2700" i="0" u="none">
                <a:solidFill>
                  <a:srgbClr val="F8FAFC"/>
                </a:solidFill>
                <a:latin typeface="Poppins"/>
              </a:rPr>
              <a:t> El 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900612"/>
            <a:ext cx="1102995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738437"/>
            <a:ext cx="3549550" cy="1895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75" y="2738437"/>
            <a:ext cx="3549699" cy="1895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1275" y="2738437"/>
            <a:ext cx="3549550" cy="1895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324600"/>
            <a:ext cx="11029950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252662"/>
            <a:ext cx="110299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Pega la URL de cualquier repositorio público y en 2 minutos obtén: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6448425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JetBrains Mono"/>
              </a:rPr>
              <a:t>dev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.</a:t>
            </a:r>
            <a:r>
              <a:rPr b="1" sz="1050" i="0" u="none">
                <a:solidFill>
                  <a:srgbClr val="F8FAFC"/>
                </a:solidFill>
                <a:latin typeface="JetBrains Mono"/>
              </a:rPr>
              <a:t>ghost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0" y="64579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03 /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5043487"/>
            <a:ext cx="10744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Inter"/>
              </a:rPr>
              <a:t>✨ Sin configuración previa. Sin instalación. Solo una URL.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2976562"/>
            <a:ext cx="30733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E2E8F0"/>
                </a:solidFill>
                <a:latin typeface="Inter"/>
              </a:rPr>
              <a:t>🏗️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462337"/>
            <a:ext cx="322696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Mapa de 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795712"/>
            <a:ext cx="30733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Grafo interactivo navegable con todos los componentes, dependencias y patrones de diseño detectados.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200" y="2976562"/>
            <a:ext cx="30734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E2E8F0"/>
                </a:solidFill>
                <a:latin typeface="Inter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9200" y="3462337"/>
            <a:ext cx="3227122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Auditoría Inteligente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200" y="3795712"/>
            <a:ext cx="30734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Evaluación de principios SOLID, detección de vulnerabilidades, deuda técnica y recomendaciones específicas.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9400" y="2976562"/>
            <a:ext cx="30733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E2E8F0"/>
                </a:solidFill>
                <a:latin typeface="Inter"/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400" y="3462337"/>
            <a:ext cx="322696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Documentación Completa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9400" y="3795712"/>
            <a:ext cx="30733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Diagramas C4, ADR, políticas RBAC, plan de testing y casos de uso UML bajo el estándar IEEE.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🚀</a:t>
            </a:r>
            <a:r>
              <a:rPr b="1" sz="2700" i="0" u="none">
                <a:solidFill>
                  <a:srgbClr val="F8FAFC"/>
                </a:solidFill>
                <a:latin typeface="Poppins"/>
              </a:rPr>
              <a:t> La Solución: </a:t>
            </a:r>
            <a:r>
              <a:rPr b="1" sz="2700" i="0" u="none">
                <a:solidFill>
                  <a:srgbClr val="F8FAFC"/>
                </a:solidFill>
                <a:latin typeface="Poppins"/>
              </a:rPr>
              <a:t>DevGhost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24075"/>
            <a:ext cx="1102995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324600"/>
            <a:ext cx="11029950" cy="29527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809875"/>
          <a:ext cx="11010899" cy="273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22326"/>
                <a:gridCol w="5505450"/>
                <a:gridCol w="3083123"/>
              </a:tblGrid>
              <a:tr h="455612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 SemiBold"/>
                        </a:rPr>
                        <a:t>Agente Especializado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 SemiBold"/>
                        </a:rPr>
                        <a:t>Función Principal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 SemiBold"/>
                        </a:rPr>
                        <a:t>Entregable / Output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🏗️ Arquitectura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Escanea el AST, clasifica componentes y mapea la red de dependencias.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Grafo interactivo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🗄️ Modelo de Datos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Detecta entidades, atributos y relaciones entre componentes de datos.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Diagrama 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🔍 Auditoría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Extrae el código fuente, evalúa calidad SOLID y busca vulnerabilidades.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Reporte por nodo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📄 Documentación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Sintetiza y genera C4, ADR, RBAC, plan de pruebas e historias de usuario.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7 documentos MD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61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⚙️ Stack Tech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Identifica lenguajes, frameworks y sintetiza la guía de despliegue.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Setup guide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1025" y="6448425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JetBrains Mono"/>
              </a:rPr>
              <a:t>dev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.</a:t>
            </a:r>
            <a:r>
              <a:rPr b="1" sz="1050" i="0" u="none">
                <a:solidFill>
                  <a:srgbClr val="F8FAFC"/>
                </a:solidFill>
                <a:latin typeface="JetBrains Mono"/>
              </a:rPr>
              <a:t>ghost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0" y="64579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04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50" y="3271837"/>
            <a:ext cx="242232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2876" y="3271837"/>
            <a:ext cx="5505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18326" y="3271837"/>
            <a:ext cx="30831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3724275"/>
            <a:ext cx="242232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2876" y="3724275"/>
            <a:ext cx="5505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18326" y="3724275"/>
            <a:ext cx="30831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4176712"/>
            <a:ext cx="242232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2876" y="4176712"/>
            <a:ext cx="5505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18326" y="4176712"/>
            <a:ext cx="30831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550" y="4629150"/>
            <a:ext cx="242232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2876" y="4629150"/>
            <a:ext cx="5505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18326" y="4629150"/>
            <a:ext cx="30831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0550" y="5081587"/>
            <a:ext cx="242232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12876" y="5081587"/>
            <a:ext cx="5505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18326" y="5081587"/>
            <a:ext cx="30831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⚙️</a:t>
            </a:r>
            <a:r>
              <a:rPr b="1" sz="2700" i="0" u="none">
                <a:solidFill>
                  <a:srgbClr val="F8FAFC"/>
                </a:solidFill>
                <a:latin typeface="Poppins"/>
              </a:rPr>
              <a:t> Cómo Funciona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38375"/>
            <a:ext cx="5400675" cy="3190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238375"/>
            <a:ext cx="5400675" cy="3190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324600"/>
            <a:ext cx="1102995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448425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JetBrains Mono"/>
              </a:rPr>
              <a:t>dev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.</a:t>
            </a:r>
            <a:r>
              <a:rPr b="1" sz="1050" i="0" u="none">
                <a:solidFill>
                  <a:srgbClr val="F8FAFC"/>
                </a:solidFill>
                <a:latin typeface="JetBrains Mono"/>
              </a:rPr>
              <a:t>ghost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0" y="64579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05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" y="2476500"/>
            <a:ext cx="484060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oppins"/>
              </a:rPr>
              <a:t>DAG Execution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2476500"/>
            <a:ext cx="484060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A78BFA"/>
                </a:solidFill>
                <a:latin typeface="Poppins"/>
              </a:rPr>
              <a:t>Stack Tecnológico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524125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50" y="2914650"/>
            <a:ext cx="4657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Orquestación mediante Grafo Acíclico Dirigido (DAG) entre agentes.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3505200"/>
            <a:ext cx="4657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CBD5E1"/>
                </a:solidFill>
                <a:latin typeface="Inter"/>
              </a:rPr>
              <a:t>Concurrency Limiter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optimizado con 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asyncio.Semaphore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3876675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Estrategia de Retry con backoff exponencial configurable.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4238625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Timeout individual por agente para evitar bloqueos.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4600575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Agregación de resultados con prioridad de ejecución.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4962525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Tolerancia a fallos parciales para entregas resilientes.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524125"/>
            <a:ext cx="2190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15125" y="2914650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Backend: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Python 3.11 + FastAPI + asyncio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3276600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AST Parser: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Tree-sitter (análisis sintáctico real)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638550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Motor LLM: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Gemini AI para razonamiento técnico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4000500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Frontend: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React + ReactFlow + Mermaid.js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4362450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Streaming: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Server-Sent Events (SSE) atómicos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4724400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Despliegue: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Docker &amp; Docker Compose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2914650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3505200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3876675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4238625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" y="4600575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" y="4962525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8425" y="2914650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425" y="3276600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8425" y="3638550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8425" y="4000500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8425" y="4362450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8425" y="4724400"/>
            <a:ext cx="76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8BDF8"/>
                </a:solidFill>
                <a:latin typeface="Inter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🧠</a:t>
            </a:r>
            <a:r>
              <a:rPr b="1" sz="2700" i="0" u="none">
                <a:solidFill>
                  <a:srgbClr val="F8FAFC"/>
                </a:solidFill>
                <a:latin typeface="Poppins"/>
              </a:rPr>
              <a:t> Arquitectura Técnica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250656"/>
            <a:ext cx="11029950" cy="4619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74106"/>
            <a:ext cx="5400675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74106"/>
            <a:ext cx="5400675" cy="1209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12381"/>
            <a:ext cx="5400675" cy="1209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812381"/>
            <a:ext cx="5400675" cy="1209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324600"/>
            <a:ext cx="11029950" cy="295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1955006"/>
            <a:ext cx="11029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A78BFA"/>
                </a:solidFill>
                <a:latin typeface="Inter SemiBold"/>
              </a:rPr>
              <a:t>Spec-Driven Development riguroso de principio a fin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6448425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JetBrains Mono"/>
              </a:rPr>
              <a:t>dev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.</a:t>
            </a:r>
            <a:r>
              <a:rPr b="1" sz="1050" i="0" u="none">
                <a:solidFill>
                  <a:srgbClr val="F8FAFC"/>
                </a:solidFill>
                <a:latin typeface="JetBrains Mono"/>
              </a:rPr>
              <a:t>ghost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64579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06 /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5374481"/>
            <a:ext cx="10782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C084FC"/>
                </a:solidFill>
                <a:latin typeface="Inter SemiBold"/>
              </a:rPr>
              <a:t>🎯 Kiro definió la arquitectura, garantizó la calidad técnica y coordinó cada paso del desarrollo.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2612231"/>
            <a:ext cx="5170646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📋</a:t>
            </a:r>
            <a:r>
              <a:rPr b="1" sz="1350" i="0" u="none">
                <a:solidFill>
                  <a:srgbClr val="E2E8F0"/>
                </a:solidFill>
                <a:latin typeface="Poppins"/>
              </a:rPr>
              <a:t>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2945606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9 requerimientos formales con criterios de aceptación detallados y User Stories bien delimitadas.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612231"/>
            <a:ext cx="5170646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🏗️</a:t>
            </a:r>
            <a:r>
              <a:rPr b="1" sz="1350" i="0" u="none">
                <a:solidFill>
                  <a:srgbClr val="E2E8F0"/>
                </a:solidFill>
                <a:latin typeface="Poppins"/>
              </a:rPr>
              <a:t>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2945606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Arquitectura DAG completa validada formalmente con 15 </a:t>
            </a:r>
            <a:r>
              <a:rPr b="0" sz="1050" i="1" u="none">
                <a:solidFill>
                  <a:srgbClr val="94A3B8"/>
                </a:solidFill>
                <a:latin typeface="Inter"/>
              </a:rPr>
              <a:t>correctness properties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4050506"/>
            <a:ext cx="5170646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✅</a:t>
            </a:r>
            <a:r>
              <a:rPr b="1" sz="1350" i="0" u="none">
                <a:solidFill>
                  <a:srgbClr val="E2E8F0"/>
                </a:solidFill>
                <a:latin typeface="Poppins"/>
              </a:rPr>
              <a:t>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4383881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31 tareas coordinadas y ejecutadas en 7 oleadas (waves) paralelas según el grafo de dependencias.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050506"/>
            <a:ext cx="5170646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🧪</a:t>
            </a:r>
            <a:r>
              <a:rPr b="1" sz="1350" i="0" u="none">
                <a:solidFill>
                  <a:srgbClr val="E2E8F0"/>
                </a:solidFill>
                <a:latin typeface="Poppins"/>
              </a:rPr>
              <a:t>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4383881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Property-based testing avanzado utilizando </a:t>
            </a:r>
            <a:r>
              <a:rPr b="0" sz="1050" i="1" u="none">
                <a:solidFill>
                  <a:srgbClr val="94A3B8"/>
                </a:solidFill>
                <a:latin typeface="Inter"/>
              </a:rPr>
              <a:t>Hypothesis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para garantizar invariantes universales.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🛠️</a:t>
            </a:r>
            <a:r>
              <a:rPr b="1" sz="2700" i="0" u="none">
                <a:solidFill>
                  <a:srgbClr val="F8FAFC"/>
                </a:solidFill>
                <a:latin typeface="Poppins"/>
              </a:rPr>
              <a:t> Construido 100% con </a:t>
            </a:r>
            <a:r>
              <a:rPr b="1" sz="2700" i="0" u="none">
                <a:solidFill>
                  <a:srgbClr val="F8FAFC"/>
                </a:solidFill>
                <a:latin typeface="Poppins"/>
              </a:rPr>
              <a:t>Kiro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324600"/>
            <a:ext cx="11029950" cy="29527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40756"/>
          <a:ext cx="11010899" cy="318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853755"/>
                <a:gridCol w="3578423"/>
                <a:gridCol w="3578721"/>
              </a:tblGrid>
              <a:tr h="455158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 SemiBold"/>
                        </a:rPr>
                        <a:t>Característica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75" i="0" u="none">
                          <a:solidFill>
                            <a:srgbClr val="94A3B8"/>
                          </a:solidFill>
                          <a:latin typeface="Inter SemiBold"/>
                        </a:rPr>
                        <a:t>DevGhost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75" i="0" u="none">
                          <a:solidFill>
                            <a:srgbClr val="94A3B8"/>
                          </a:solidFill>
                          <a:latin typeface="Inter SemiBold"/>
                        </a:rPr>
                        <a:t>Herramientas Tradicionales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15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Análisis multi-agente paralelo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34D399"/>
                          </a:solidFill>
                          <a:latin typeface="Inter"/>
                        </a:rPr>
                        <a:t>✅ 5 agentes DAG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❌ Secuencial / Monolítico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15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Auditoría SOLID por componente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34D399"/>
                          </a:solidFill>
                          <a:latin typeface="Inter"/>
                        </a:rPr>
                        <a:t>✅ Con código fuente real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❌ Solo métricas estáticas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15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Casos de uso UML automáticos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34D399"/>
                          </a:solidFill>
                          <a:latin typeface="Inter"/>
                        </a:rPr>
                        <a:t>✅ Estándar IEEE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❌ No disponible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15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Streaming en tiempo real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34D399"/>
                          </a:solidFill>
                          <a:latin typeface="Inter"/>
                        </a:rPr>
                        <a:t>✅ SSE con progreso atómico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❌ Solo resultado final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15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Tolerancia a fallos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34D399"/>
                          </a:solidFill>
                          <a:latin typeface="Inter"/>
                        </a:rPr>
                        <a:t>✅ Retry + entregas parciales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❌ Fallo catastrófico completo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516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Grafo interactivo navegable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34D399"/>
                          </a:solidFill>
                          <a:latin typeface="Inter"/>
                        </a:rPr>
                        <a:t>✅ ReactFlow + inspección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64748B"/>
                          </a:solidFill>
                          <a:latin typeface="Inter"/>
                        </a:rPr>
                        <a:t>❌ Diagrama estático PNG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1025" y="6448425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JetBrains Mono"/>
              </a:rPr>
              <a:t>dev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.</a:t>
            </a:r>
            <a:r>
              <a:rPr b="1" sz="1050" i="0" u="none">
                <a:solidFill>
                  <a:srgbClr val="F8FAFC"/>
                </a:solidFill>
                <a:latin typeface="JetBrains Mono"/>
              </a:rPr>
              <a:t>ghost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0" y="64579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07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2702718"/>
            <a:ext cx="38537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4305" y="2702718"/>
            <a:ext cx="35784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22728" y="2702718"/>
            <a:ext cx="35787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0550" y="3155156"/>
            <a:ext cx="38537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44305" y="3155156"/>
            <a:ext cx="35784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22728" y="3155156"/>
            <a:ext cx="35787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550" y="3607593"/>
            <a:ext cx="38537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4305" y="3607593"/>
            <a:ext cx="35784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2728" y="3607593"/>
            <a:ext cx="35787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4060031"/>
            <a:ext cx="38537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4305" y="4060031"/>
            <a:ext cx="35784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2728" y="4060031"/>
            <a:ext cx="35787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0550" y="4512468"/>
            <a:ext cx="38537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44305" y="4512468"/>
            <a:ext cx="35784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2728" y="4512468"/>
            <a:ext cx="35787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0550" y="4964906"/>
            <a:ext cx="38537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44305" y="4964906"/>
            <a:ext cx="35784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2728" y="4964906"/>
            <a:ext cx="35787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💎</a:t>
            </a:r>
            <a:r>
              <a:rPr b="1" sz="2700" i="0" u="none">
                <a:solidFill>
                  <a:srgbClr val="F8FAFC"/>
                </a:solidFill>
                <a:latin typeface="Poppins"/>
              </a:rPr>
              <a:t> Diferenciadores Clave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2237"/>
            <a:ext cx="3575000" cy="1095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2662237"/>
            <a:ext cx="3575000" cy="1095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825" y="2662237"/>
            <a:ext cx="3575149" cy="1095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910012"/>
            <a:ext cx="3575000" cy="1095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3910012"/>
            <a:ext cx="3575000" cy="1095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825" y="3910012"/>
            <a:ext cx="3575149" cy="1095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324600"/>
            <a:ext cx="11029950" cy="29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6448425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JetBrains Mono"/>
              </a:rPr>
              <a:t>dev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.</a:t>
            </a:r>
            <a:r>
              <a:rPr b="1" sz="1050" i="0" u="none">
                <a:solidFill>
                  <a:srgbClr val="F8FAFC"/>
                </a:solidFill>
                <a:latin typeface="JetBrains Mono"/>
              </a:rPr>
              <a:t>ghost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64579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08 /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843212"/>
            <a:ext cx="3373702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👨‍💻 Developer Nuevo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176587"/>
            <a:ext cx="3213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Entiende cualquier base de código en minutos en lugar de semanas. Onboarding inmediato.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400" y="2843212"/>
            <a:ext cx="3373702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🔍 Auditor de Código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400" y="3176587"/>
            <a:ext cx="3213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Genera reportes automáticos con vulnerabilidades, deuda técnica y patrones SOLID.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6800" y="2843212"/>
            <a:ext cx="3373859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📋 Product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800" y="3176587"/>
            <a:ext cx="32131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Obtiene casos de uso e historias de usuario actualizadas sin largas reuniones técnicas.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090987"/>
            <a:ext cx="3373702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🏗️ Arquitecto de SW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424362"/>
            <a:ext cx="3213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Mantiene documentación C4 y registros ADR permanentemente al día con el código 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400" y="4090987"/>
            <a:ext cx="3373702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🎓 Estudiante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400" y="4424362"/>
            <a:ext cx="3213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Aprende arquitectura y patrones reales analizando proyectos open source destacados.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800" y="4090987"/>
            <a:ext cx="3373859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oppins"/>
              </a:rPr>
              <a:t>🏢 Empresa / 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6800" y="4424362"/>
            <a:ext cx="32131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Realiza </a:t>
            </a:r>
            <a:r>
              <a:rPr b="0" sz="1050" i="1" u="none">
                <a:solidFill>
                  <a:srgbClr val="94A3B8"/>
                </a:solidFill>
                <a:latin typeface="Inter"/>
              </a:rPr>
              <a:t>due diligence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técnica y evaluación de riesgos en minutos para adquisiciones.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oppins"/>
              </a:rPr>
              <a:t>🎯</a:t>
            </a:r>
            <a:r>
              <a:rPr b="1" sz="2700" i="0" u="none">
                <a:solidFill>
                  <a:srgbClr val="F8FAFC"/>
                </a:solidFill>
                <a:latin typeface="Poppins"/>
              </a:rPr>
              <a:t> ¿Para quién es DevGhost?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975" y="3414712"/>
            <a:ext cx="2205037" cy="95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414712"/>
            <a:ext cx="2266950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962" y="3414712"/>
            <a:ext cx="2024062" cy="95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725" y="4672012"/>
            <a:ext cx="3000375" cy="447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4672012"/>
            <a:ext cx="3533775" cy="447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6324600"/>
            <a:ext cx="11029950" cy="295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75835" y="2043112"/>
            <a:ext cx="264033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900" i="0" u="none">
                <a:solidFill>
                  <a:srgbClr val="F8FAFC"/>
                </a:solidFill>
                <a:latin typeface="Poppins ExtraBold"/>
              </a:rPr>
              <a:t>DevGhost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4325" y="2862262"/>
            <a:ext cx="3943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F8FAFC"/>
                </a:solidFill>
                <a:latin typeface="Inter Medium"/>
              </a:rPr>
              <a:t>Entiende cualquier Codebase en segundos.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0887" y="5348287"/>
            <a:ext cx="56102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A78BFA"/>
                </a:solidFill>
                <a:latin typeface="Inter"/>
              </a:rPr>
              <a:t>Construido al 100% con Kiro — desde la especificación hasta el último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6448425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JetBrains Mono"/>
              </a:rPr>
              <a:t>dev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.</a:t>
            </a:r>
            <a:r>
              <a:rPr b="1" sz="1050" i="0" u="none">
                <a:solidFill>
                  <a:srgbClr val="F8FAFC"/>
                </a:solidFill>
                <a:latin typeface="JetBrains Mono"/>
              </a:rPr>
              <a:t>ghost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0" y="6457950"/>
            <a:ext cx="466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09 / 09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0" y="1281112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81300" y="3576637"/>
            <a:ext cx="157638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0" sz="3000" i="0" u="none">
                <a:solidFill>
                  <a:srgbClr val="38BDF8"/>
                </a:solidFill>
                <a:latin typeface="JetBrains Mono ExtraBold"/>
              </a:rPr>
              <a:t>740+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1300" y="4052887"/>
            <a:ext cx="15763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TESTS AUTOMATIZADOS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337" y="3576637"/>
            <a:ext cx="16383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0" sz="3000" i="0" u="none">
                <a:solidFill>
                  <a:srgbClr val="A78BFA"/>
                </a:solidFill>
                <a:latin typeface="JetBrains Mono ExtraBold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337" y="4052887"/>
            <a:ext cx="1638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PROPIEDADES FORMALES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5287" y="3576637"/>
            <a:ext cx="13954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0" sz="3000" i="0" u="none">
                <a:solidFill>
                  <a:srgbClr val="34D399"/>
                </a:solidFill>
                <a:latin typeface="JetBrains Mono Extra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5287" y="4052887"/>
            <a:ext cx="139541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AGENTES PARALELOS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850" y="4795837"/>
            <a:ext cx="2524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🔗 github.com/henrichile/DevGhost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3625" y="4795837"/>
            <a:ext cx="30575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🛠️ Python + React + Tree-sitter +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